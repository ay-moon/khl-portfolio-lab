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749808"/>
            <a:ext cx="10927080" cy="4526280"/>
          </a:xfrm>
          <a:prstGeom prst="roundRect">
            <a:avLst/>
          </a:prstGeom>
          <a:solidFill>
            <a:srgbClr val="111F36"/>
          </a:solidFill>
          <a:ln w="1651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24712"/>
            <a:ext cx="10241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E8F2FF"/>
                </a:solidFill>
                <a:latin typeface="Archivo"/>
              </a:defRPr>
            </a:pPr>
            <a:r>
              <a:t>KHL Portfolio Lab</a:t>
            </a:r>
            <a:br/>
            <a:r>
              <a:t>Storytelling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8892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EB4D2"/>
                </a:solidFill>
                <a:latin typeface="Manrope"/>
              </a:defRPr>
            </a:pPr>
            <a:r>
              <a:t>40 slides | visual diagrams | low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493008"/>
            <a:ext cx="10012680" cy="566928"/>
          </a:xfrm>
          <a:prstGeom prst="roundRect">
            <a:avLst/>
          </a:prstGeom>
          <a:solidFill>
            <a:srgbClr val="223F68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8F2FF"/>
                </a:solidFill>
                <a:latin typeface="Archivo"/>
              </a:defRPr>
            </a:pPr>
            <a:r>
              <a:t>Setup | Data Platform | Pipelines | Intelligence |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1 |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23F68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GLOBAL  2/40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57784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69080"/>
            <a:ext cx="10332720" cy="54864"/>
          </a:xfrm>
          <a:prstGeom prst="rect">
            <a:avLst/>
          </a:prstGeom>
          <a:solidFill>
            <a:srgbClr val="97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79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Probleme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144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81635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Vision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2803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Socle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93776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83971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Flux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4944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85139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Decision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96112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8630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4128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Impact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97280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1 | Story 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23F68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GLOBAL  3/40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36675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796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Source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6275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0964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Modele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443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2132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Simulation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6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300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Risque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9779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468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0947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5636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1 | Espace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23F68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GLOBAL  4/40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115568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1768" y="3474720"/>
            <a:ext cx="2194560" cy="1005840"/>
          </a:xfrm>
          <a:prstGeom prst="roundRect">
            <a:avLst/>
          </a:prstGeom>
          <a:solidFill>
            <a:srgbClr val="223F68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KHL Lab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Dev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743200" y="2560320"/>
            <a:ext cx="3355848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 STG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4754880" y="2194560"/>
            <a:ext cx="1344168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2104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 Gold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9048" y="2194560"/>
            <a:ext cx="3136392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4128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Power BI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099048" y="2560320"/>
            <a:ext cx="5056632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28800" y="475488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CI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743200" y="3977639"/>
            <a:ext cx="3355848" cy="114300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40480" y="512064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Trading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754880" y="3977639"/>
            <a:ext cx="1344168" cy="150876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21040" y="512064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Analytics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3977639"/>
            <a:ext cx="3136392" cy="150876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41280" y="475488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9048" y="3977639"/>
            <a:ext cx="5056632" cy="114300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1 | 5 Couches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23F68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GLOBAL  5/40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394460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828800"/>
            <a:ext cx="2084831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883664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331720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.env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73552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.venv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15384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Bootstrap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8064" y="1828800"/>
            <a:ext cx="2084831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71216" y="1883664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4368" y="2331720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4368" y="3273552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44368" y="4215384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92624" y="1828800"/>
            <a:ext cx="2084831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6" y="1883664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Pipelines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2331720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Ingest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8" y="3273552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Sim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38928" y="4215384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Calc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87183" y="1828800"/>
            <a:ext cx="2084831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1883664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Intel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33488" y="2331720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33488" y="3273552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33488" y="4215384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Audit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81744" y="1828800"/>
            <a:ext cx="2084831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4896" y="1883664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Delivery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28048" y="2331720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8048" y="3273552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4215384"/>
            <a:ext cx="179222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2 |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35B7D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SETUP  6/40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673351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Template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57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4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.env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3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0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.venv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9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76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deps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15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2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2 |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35B7D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SETUP  7/40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952243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SQL_SERVER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SQL_DATABASE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SQL_USER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SQL_PASSWORD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SQL_DRIVER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SQL_AUTH_MODE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SQL_DATABASE_STG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SQL_SCHEMA_STG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OPENAI_API_KEY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PYTHON_EXE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ENV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39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DB_ENGINE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2 | Bootstrap 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35B7D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SETUP  8/40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231136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bootstrap_local.ps1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read .env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pip install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57216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11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Linux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bootstrap_local.sh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read .env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pip install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5157216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87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918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Result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DB ready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Model ready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Demo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2 |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35B7D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SETUP  9/40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510028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69080"/>
            <a:ext cx="10332720" cy="54864"/>
          </a:xfrm>
          <a:prstGeom prst="rect">
            <a:avLst/>
          </a:prstGeom>
          <a:solidFill>
            <a:srgbClr val="97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79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Clone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144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192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9748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Bootstrap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2900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8338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1208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Seed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9436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3484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26679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Run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5820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8630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4128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Verify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09728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3 |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A4E86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PLATFORM  10/40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788920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61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Dim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00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47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Facts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6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3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AI_*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272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19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3 |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A4E86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PLATFORM  11/40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067812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DimDate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DateKey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Calendar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MonthEnd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DimSecurity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Ticker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AssetClass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Currency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DimPortfolio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RiskProfile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39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Inception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3 |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A4E86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PLATFORM  12/40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346703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FactPrice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FactTrades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Positions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PnL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DateKey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SecurityKey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PortfolioKey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ClosePrice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Quantity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NAV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39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VaR95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3 | AI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A4E86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PLATFORM  13/40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25596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AI_DailyBriefing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AI_Recommendations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AI_WhatIf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AI_AuditLog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OutputJson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Reasoning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Scenario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EventTs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RequestId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39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ModelName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3 |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A4E86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PLATFORM  14/40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904487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828800"/>
            <a:ext cx="26334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88366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Trades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331720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vw_FactTradesEnriched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73552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Gross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15384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1828800"/>
            <a:ext cx="26334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188366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Positions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3008" y="2331720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vw_PositionSnapshot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73552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Weight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93008" y="4215384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Unrealized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9904" y="1828800"/>
            <a:ext cx="26334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188366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2331720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vw_PortfolioDashboardDaily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273552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PnL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215384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3104" y="1828800"/>
            <a:ext cx="26334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6256" y="188366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2331720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vw_AI_LatestRecommendations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9408" y="3273552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Latest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9408" y="4215384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Status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3 | Gold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A4E86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PLATFORM  15/40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4183379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1768" y="3474720"/>
            <a:ext cx="2194560" cy="1005840"/>
          </a:xfrm>
          <a:prstGeom prst="roundRect">
            <a:avLst/>
          </a:prstGeom>
          <a:solidFill>
            <a:srgbClr val="223F68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 Gold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DimDate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743200" y="2560320"/>
            <a:ext cx="3355848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DimSecurity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4754880" y="2194560"/>
            <a:ext cx="1344168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2104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DimPortfolio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9048" y="2194560"/>
            <a:ext cx="3136392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4128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FactPrice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099048" y="2560320"/>
            <a:ext cx="5056632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28800" y="475488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FactTrades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743200" y="3977639"/>
            <a:ext cx="3355848" cy="114300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40480" y="512064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Positions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754880" y="3977639"/>
            <a:ext cx="1344168" cy="150876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21040" y="512064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PnL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3977639"/>
            <a:ext cx="3136392" cy="150876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41280" y="475488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Risk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9048" y="3977639"/>
            <a:ext cx="5056632" cy="114300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4 | Ingestion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16/40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4462272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STG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57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4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Parse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3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0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Canonical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9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76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Dedup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15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2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Merge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4 |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17/40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4741164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69080"/>
            <a:ext cx="10332720" cy="54864"/>
          </a:xfrm>
          <a:prstGeom prst="rect">
            <a:avLst/>
          </a:prstGeom>
          <a:solidFill>
            <a:srgbClr val="97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79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Raw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144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192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9748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Filter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2900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8338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1208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Parse FR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9436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3484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26679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Clean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5820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8630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4128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Ready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09728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4 | Canonical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18/40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020056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1768" y="3474720"/>
            <a:ext cx="2194560" cy="1005840"/>
          </a:xfrm>
          <a:prstGeom prst="roundRect">
            <a:avLst/>
          </a:prstGeom>
          <a:solidFill>
            <a:srgbClr val="223F68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Canonical 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libelle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743200" y="2560320"/>
            <a:ext cx="3355848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ss_jacent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4754880" y="2194560"/>
            <a:ext cx="1344168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2104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sous_jacent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9048" y="2194560"/>
            <a:ext cx="3136392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4128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produit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099048" y="2560320"/>
            <a:ext cx="5056632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28800" y="475488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isin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743200" y="3977639"/>
            <a:ext cx="3355848" cy="114300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4 | Dedup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19/40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298947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key(date,name)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57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4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compare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3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0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load_ts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9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76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stg_id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15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2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keep latest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4 | Merge FactPrice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20/40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577840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#SrcFactPrice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DateKey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SecurityKey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FactPrice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match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insert/update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187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Output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inserted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updated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source_system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5 | Trading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21/40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856732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796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Price Grid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6275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0964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Strategy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443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2132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Orders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6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300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Execute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9779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468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Snapshot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0947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5636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SQL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5 | Domain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22/40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135624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MarketOrder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PositionState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ExecutedTrade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PositionSnapshot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BUY/SELL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Quantity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AvgCost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Fee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Slippage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CashFlow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Weight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39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PnL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5 |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23/40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14515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69080"/>
            <a:ext cx="10332720" cy="54864"/>
          </a:xfrm>
          <a:prstGeom prst="rect">
            <a:avLst/>
          </a:prstGeom>
          <a:solidFill>
            <a:srgbClr val="97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79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Seed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144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192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9748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Business Days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2900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8338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1208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Drift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9436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3484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26679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Noise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5820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8630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4128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Price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09728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5 | Rotation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24/40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693407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Pick Ticker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57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4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BUY zone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3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0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SELL check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9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76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SPY pulse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15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2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Orders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5 | run_mvp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6F4E20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PIPELINES  25/40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972300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Prepare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ensure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ensure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ensure securities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execute trades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build snapshots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collect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187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Persist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purge 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insert trades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insert positions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6 | Performance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26/40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7251192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Trades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57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4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Cash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3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0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Market Value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9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76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NAV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15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2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PnL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6 | Risk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27/40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7530083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69080"/>
            <a:ext cx="10332720" cy="54864"/>
          </a:xfrm>
          <a:prstGeom prst="rect">
            <a:avLst/>
          </a:prstGeom>
          <a:solidFill>
            <a:srgbClr val="97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79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Returns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144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81635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Vol20d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2803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Peak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93776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83971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Drawdown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4944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85139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VaR95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96112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8630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4128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Sharpe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97280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6 |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28/40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7808975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missing price?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position &gt;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Fail Fast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stop job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show sample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ingest prices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rerun calc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6 | Rerun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29/40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087867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61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select range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00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47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purge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6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3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recompute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272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19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insert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6 | Portfolio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30/40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366759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1768" y="3474720"/>
            <a:ext cx="2194560" cy="1005840"/>
          </a:xfrm>
          <a:prstGeom prst="roundRect">
            <a:avLst/>
          </a:prstGeom>
          <a:solidFill>
            <a:srgbClr val="223F68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vw_PortfolioDashboardDaily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NAV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743200" y="2560320"/>
            <a:ext cx="3355848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DailyPnL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4754880" y="2194560"/>
            <a:ext cx="1344168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2104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CumPnL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9048" y="2194560"/>
            <a:ext cx="3136392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4128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Vol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099048" y="2560320"/>
            <a:ext cx="5056632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28800" y="475488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Drawdown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743200" y="3977639"/>
            <a:ext cx="3355848" cy="114300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40480" y="512064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VaR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754880" y="3977639"/>
            <a:ext cx="1344168" cy="150876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21040" y="512064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Sharpe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3977639"/>
            <a:ext cx="3136392" cy="150876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7 | AI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31/40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645652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796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resolve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6275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0964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retrieve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443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2132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generate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6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300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validate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9779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468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write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0947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5636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audit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7 | Context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32/40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924544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headline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positions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latest recos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date_key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portfolio_code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nav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daily_pnl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return_pct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drawdown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var95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39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sharpe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7 |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33/40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9203436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daily-briefing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regime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assumptions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confidence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target_weight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18704" y="1828800"/>
            <a:ext cx="35478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83664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what-if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2331720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scenario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3273552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delta vol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4215384"/>
            <a:ext cx="32552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delta return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7 |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34/40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9482328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schema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57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4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actions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3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0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limits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9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76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ban phrases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15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2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postcheck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7 | AI Writeback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5B3F85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INTELLIGENCE  35/40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9761219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01768" y="3474720"/>
            <a:ext cx="2194560" cy="1005840"/>
          </a:xfrm>
          <a:prstGeom prst="roundRect">
            <a:avLst/>
          </a:prstGeom>
          <a:solidFill>
            <a:srgbClr val="223F68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AI_AuditLog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DailyBriefing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743200" y="2560320"/>
            <a:ext cx="3355848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Recommendations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4754880" y="2194560"/>
            <a:ext cx="1344168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21040" y="182880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WhatIf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9048" y="2194560"/>
            <a:ext cx="3136392" cy="178307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41280" y="219456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status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099048" y="2560320"/>
            <a:ext cx="5056632" cy="1417319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28800" y="475488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component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743200" y="3977639"/>
            <a:ext cx="3355848" cy="114300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40480" y="5120640"/>
            <a:ext cx="1828800" cy="7315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detail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754880" y="3977639"/>
            <a:ext cx="1344168" cy="1508761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8 |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B5F5F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DELIVERY  36/40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0040112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61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Gold Views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00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47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Power BI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6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3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Insights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272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19007" y="3154680"/>
            <a:ext cx="201168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Decision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8 | BI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B5F5F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DELIVERY  37/40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0319004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Overview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39" y="20574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Trend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Drilldown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Exposure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34290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PnL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Drawdown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Reco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39" y="4800600"/>
            <a:ext cx="2514600" cy="11430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What-if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8 |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B5F5F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DELIVERY  38/40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0597895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828800"/>
            <a:ext cx="26334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88366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Unit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331720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simulator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73552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15384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ingestion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157216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6704" y="1828800"/>
            <a:ext cx="26334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188366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CI Python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2331720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compileall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93008" y="3273552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unittest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9904" y="1828800"/>
            <a:ext cx="26334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188366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CI 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2331720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validate_sql.py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33104" y="1828800"/>
            <a:ext cx="2633472" cy="4389120"/>
          </a:xfrm>
          <a:prstGeom prst="roundRect">
            <a:avLst/>
          </a:prstGeom>
          <a:solidFill>
            <a:srgbClr val="111F36"/>
          </a:solidFill>
          <a:ln w="889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6" y="188366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9A8"/>
                </a:solidFill>
                <a:latin typeface="Manrope"/>
              </a:defRPr>
            </a:pPr>
            <a:r>
              <a:t>Release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9408" y="2331720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tag v*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9408" y="3273552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changelog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9408" y="4215384"/>
            <a:ext cx="2340864" cy="7315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zip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Acte 8 |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B5F5F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DELIVERY  39/40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0876788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69080"/>
            <a:ext cx="10332720" cy="54864"/>
          </a:xfrm>
          <a:prstGeom prst="rect">
            <a:avLst/>
          </a:prstGeom>
          <a:solidFill>
            <a:srgbClr val="97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79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Now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1440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81635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OpenAI provider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2803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Prompt V2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93776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83971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Docker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4944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85139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278892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Orchestration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961120" y="3474720"/>
            <a:ext cx="0" cy="59436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863072" y="3950208"/>
            <a:ext cx="219456" cy="219456"/>
          </a:xfrm>
          <a:prstGeom prst="ellipse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41280" y="4572000"/>
            <a:ext cx="1463040" cy="68580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Prod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972800" y="4069080"/>
            <a:ext cx="0" cy="502920"/>
          </a:xfrm>
          <a:prstGeom prst="line">
            <a:avLst/>
          </a:prstGeom>
          <a:ln w="10160">
            <a:solidFill>
              <a:srgbClr val="97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868680" y="-822960"/>
            <a:ext cx="4023360" cy="4023360"/>
          </a:xfrm>
          <a:prstGeom prst="ellipse">
            <a:avLst/>
          </a:prstGeom>
          <a:solidFill>
            <a:srgbClr val="245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51560"/>
            <a:ext cx="3886200" cy="3886200"/>
          </a:xfrm>
          <a:prstGeom prst="ellipse">
            <a:avLst/>
          </a:prstGeom>
          <a:solidFill>
            <a:srgbClr val="2386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201168"/>
            <a:ext cx="11567160" cy="111556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329184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F2FF"/>
                </a:solidFill>
                <a:latin typeface="Archivo"/>
              </a:defRPr>
            </a:pPr>
            <a:r>
              <a:t>Final |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B4D2"/>
                </a:solidFill>
                <a:latin typeface="Manrope"/>
              </a:defRPr>
            </a:pPr>
            <a:r>
              <a:t>Storytelling visuel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429768"/>
            <a:ext cx="2011680" cy="420624"/>
          </a:xfrm>
          <a:prstGeom prst="roundRect">
            <a:avLst/>
          </a:prstGeom>
          <a:solidFill>
            <a:srgbClr val="2B5F5F"/>
          </a:solidFill>
          <a:ln w="1016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2FF"/>
                </a:solidFill>
                <a:latin typeface="Archivo"/>
              </a:defRPr>
            </a:pPr>
            <a:r>
              <a:t>DELIVERY  40/40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1155680" cy="73152"/>
          </a:xfrm>
          <a:prstGeom prst="rect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64208"/>
            <a:ext cx="11183112" cy="4782312"/>
          </a:xfrm>
          <a:prstGeom prst="roundRect">
            <a:avLst/>
          </a:prstGeom>
          <a:solidFill>
            <a:srgbClr val="0B172A"/>
          </a:solidFill>
          <a:ln w="1143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796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Setup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6275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0964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Ingestion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443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2132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Trading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611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300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Risk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9779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468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AI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09479" y="3529584"/>
            <a:ext cx="274320" cy="256032"/>
          </a:xfrm>
          <a:prstGeom prst="rightArrow">
            <a:avLst/>
          </a:prstGeom>
          <a:solidFill>
            <a:srgbClr val="4AD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56367" y="3154680"/>
            <a:ext cx="1737360" cy="100584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97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8F2FF"/>
                </a:solidFill>
                <a:latin typeface="Manrope"/>
              </a:defRPr>
            </a:pPr>
            <a:r>
              <a:t>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